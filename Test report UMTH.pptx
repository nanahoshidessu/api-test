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6858000" cy="9144000"/>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74320" y="274320"/>
            <a:ext cx="1463040" cy="329184"/>
          </a:xfrm>
          <a:prstGeom prst="rect">
            <a:avLst/>
          </a:prstGeom>
          <a:solidFill>
            <a:srgbClr val="FFFFFF"/>
          </a:solidFill>
          <a:ln w="19050">
            <a:solidFill>
              <a:srgbClr val="FF0000"/>
            </a:solidFill>
            <a:prstDash val="solid"/>
          </a:ln>
        </p:spPr>
      </p:sp>
      <p:sp>
        <p:nvSpPr>
          <p:cNvPr id="3" name="Text 1"/>
          <p:cNvSpPr/>
          <p:nvPr/>
        </p:nvSpPr>
        <p:spPr>
          <a:xfrm>
            <a:off x="274320" y="274320"/>
            <a:ext cx="1463040" cy="329184"/>
          </a:xfrm>
          <a:prstGeom prst="rect">
            <a:avLst/>
          </a:prstGeom>
          <a:noFill/>
          <a:ln/>
        </p:spPr>
        <p:txBody>
          <a:bodyPr wrap="square" lIns="0" tIns="0" rIns="0" bIns="0" rtlCol="0" anchor="ctr"/>
          <a:lstStyle/>
          <a:p>
            <a:pPr algn="ctr" indent="0" marL="0">
              <a:buNone/>
            </a:pPr>
            <a:r>
              <a:rPr lang="en-US" sz="1000" b="1" dirty="0">
                <a:solidFill>
                  <a:srgbClr val="FF0000"/>
                </a:solidFill>
                <a:latin typeface="Calibri" pitchFamily="34" charset="0"/>
                <a:ea typeface="Calibri" pitchFamily="34" charset="-122"/>
                <a:cs typeface="Calibri" pitchFamily="34" charset="-120"/>
              </a:rPr>
              <a:t>Version 05/May/2026</a:t>
            </a:r>
            <a:endParaRPr lang="en-US" sz="1000" dirty="0"/>
          </a:p>
        </p:txBody>
      </p:sp>
      <p:sp>
        <p:nvSpPr>
          <p:cNvPr id="4" name="Shape 2"/>
          <p:cNvSpPr/>
          <p:nvPr/>
        </p:nvSpPr>
        <p:spPr>
          <a:xfrm>
            <a:off x="5120640" y="274320"/>
            <a:ext cx="1463040" cy="329184"/>
          </a:xfrm>
          <a:prstGeom prst="rect">
            <a:avLst/>
          </a:prstGeom>
          <a:solidFill>
            <a:srgbClr val="FFFFFF"/>
          </a:solidFill>
          <a:ln w="19050">
            <a:solidFill>
              <a:srgbClr val="FF0000"/>
            </a:solidFill>
            <a:prstDash val="solid"/>
          </a:ln>
        </p:spPr>
      </p:sp>
      <p:sp>
        <p:nvSpPr>
          <p:cNvPr id="5" name="Text 3"/>
          <p:cNvSpPr/>
          <p:nvPr/>
        </p:nvSpPr>
        <p:spPr>
          <a:xfrm>
            <a:off x="5120640" y="274320"/>
            <a:ext cx="1463040" cy="329184"/>
          </a:xfrm>
          <a:prstGeom prst="rect">
            <a:avLst/>
          </a:prstGeom>
          <a:noFill/>
          <a:ln/>
        </p:spPr>
        <p:txBody>
          <a:bodyPr wrap="square" lIns="0" tIns="0" rIns="0" bIns="0" rtlCol="0" anchor="ctr"/>
          <a:lstStyle/>
          <a:p>
            <a:pPr algn="ctr" indent="0" marL="0">
              <a:buNone/>
            </a:pPr>
            <a:r>
              <a:rPr lang="en-US" sz="1000" b="1" dirty="0">
                <a:solidFill>
                  <a:srgbClr val="FF0000"/>
                </a:solidFill>
                <a:latin typeface="Calibri" pitchFamily="34" charset="0"/>
                <a:ea typeface="Calibri" pitchFamily="34" charset="-122"/>
                <a:cs typeface="Calibri" pitchFamily="34" charset="-120"/>
              </a:rPr>
              <a:t>Confidential</a:t>
            </a:r>
            <a:endParaRPr lang="en-US" sz="1000" dirty="0"/>
          </a:p>
        </p:txBody>
      </p:sp>
      <p:sp>
        <p:nvSpPr>
          <p:cNvPr id="6" name="Text 4"/>
          <p:cNvSpPr/>
          <p:nvPr/>
        </p:nvSpPr>
        <p:spPr>
          <a:xfrm>
            <a:off x="640080" y="3017520"/>
            <a:ext cx="5943600" cy="1828800"/>
          </a:xfrm>
          <a:prstGeom prst="rect">
            <a:avLst/>
          </a:prstGeom>
          <a:noFill/>
          <a:ln/>
        </p:spPr>
        <p:txBody>
          <a:bodyPr wrap="square" rtlCol="0" anchor="t"/>
          <a:lstStyle/>
          <a:p>
            <a:pPr algn="r" indent="0" marL="0">
              <a:buNone/>
            </a:pPr>
            <a:r>
              <a:rPr lang="en-US" sz="1800" b="1" dirty="0">
                <a:solidFill>
                  <a:srgbClr val="000000"/>
                </a:solidFill>
                <a:latin typeface="Calibri Light" pitchFamily="34" charset="0"/>
                <a:ea typeface="Calibri Light" pitchFamily="34" charset="-122"/>
                <a:cs typeface="Calibri Light" pitchFamily="34" charset="-120"/>
              </a:rPr>
              <a:t>UMTH Flow meter Visualization API</a:t>
            </a:r>
            <a:endParaRPr lang="en-US" sz="1800" dirty="0"/>
          </a:p>
          <a:p>
            <a:pPr algn="r" indent="0" marL="0">
              <a:buNone/>
            </a:pPr>
            <a:r>
              <a:rPr lang="en-US" sz="1400" b="1" dirty="0">
                <a:solidFill>
                  <a:srgbClr val="000000"/>
                </a:solidFill>
                <a:latin typeface="Calibri Light" pitchFamily="34" charset="0"/>
                <a:ea typeface="Calibri Light" pitchFamily="34" charset="-122"/>
                <a:cs typeface="Calibri Light" pitchFamily="34" charset="-120"/>
              </a:rPr>
              <a:t>Documentation EN Test Report for Unimicron (Thailand) Co., Ltd.</a:t>
            </a:r>
            <a:endParaRPr lang="en-US" sz="1800" dirty="0"/>
          </a:p>
          <a:p>
            <a:pPr algn="r" indent="0" marL="0">
              <a:buNone/>
            </a:pPr>
            <a:r>
              <a:rPr lang="en-US" sz="1200" dirty="0">
                <a:solidFill>
                  <a:srgbClr val="000000"/>
                </a:solidFill>
              </a:rPr>
              <a:t> </a:t>
            </a:r>
            <a:endParaRPr lang="en-US" sz="1800" dirty="0"/>
          </a:p>
          <a:p>
            <a:pPr algn="r" indent="0" marL="0">
              <a:buNone/>
            </a:pPr>
            <a:r>
              <a:rPr lang="en-US" sz="1100" dirty="0">
                <a:solidFill>
                  <a:srgbClr val="000000"/>
                </a:solidFill>
                <a:latin typeface="Calibri" pitchFamily="34" charset="0"/>
                <a:ea typeface="Calibri" pitchFamily="34" charset="-122"/>
                <a:cs typeface="Calibri" pitchFamily="34" charset="-120"/>
              </a:rPr>
              <a:t>Made for: Unimicron (Thailand) Co., Ltd.</a:t>
            </a:r>
            <a:endParaRPr lang="en-US" sz="1800" dirty="0"/>
          </a:p>
          <a:p>
            <a:pPr algn="r" indent="0" marL="0">
              <a:buNone/>
            </a:pPr>
            <a:r>
              <a:rPr lang="en-US" sz="1100" dirty="0">
                <a:solidFill>
                  <a:srgbClr val="000000"/>
                </a:solidFill>
                <a:latin typeface="Calibri" pitchFamily="34" charset="0"/>
                <a:ea typeface="Calibri" pitchFamily="34" charset="-122"/>
                <a:cs typeface="Calibri" pitchFamily="34" charset="-120"/>
              </a:rPr>
              <a:t>By: TOMAS TECH CO.,LTD.</a:t>
            </a:r>
            <a:endParaRPr lang="en-US" sz="1800" dirty="0"/>
          </a:p>
        </p:txBody>
      </p:sp>
      <p:sp>
        <p:nvSpPr>
          <p:cNvPr id="7" name="Text 5"/>
          <p:cNvSpPr/>
          <p:nvPr/>
        </p:nvSpPr>
        <p:spPr>
          <a:xfrm>
            <a:off x="6309360" y="8778240"/>
            <a:ext cx="274320" cy="274320"/>
          </a:xfrm>
          <a:prstGeom prst="rect">
            <a:avLst/>
          </a:prstGeom>
          <a:noFill/>
          <a:ln/>
        </p:spPr>
        <p:txBody>
          <a:bodyPr wrap="square" rtlCol="0" anchor="ctr"/>
          <a:lstStyle/>
          <a:p>
            <a:pPr algn="r" indent="0" marL="0">
              <a:buNone/>
            </a:pPr>
            <a:r>
              <a:rPr lang="en-US" sz="900" dirty="0">
                <a:solidFill>
                  <a:srgbClr val="40404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UMTH Flow meter Visualization API Testing</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914400"/>
            <a:ext cx="5943600" cy="548640"/>
          </a:xfrm>
          <a:prstGeom prst="rect">
            <a:avLst/>
          </a:prstGeom>
          <a:noFill/>
          <a:ln/>
        </p:spPr>
        <p:txBody>
          <a:bodyPr wrap="square" rtlCol="0" anchor="ctr"/>
          <a:lstStyle/>
          <a:p>
            <a:pPr indent="0" marL="0">
              <a:buNone/>
            </a:pPr>
            <a:r>
              <a:rPr lang="en-US" sz="2800" b="1" dirty="0">
                <a:solidFill>
                  <a:srgbClr val="000000"/>
                </a:solidFill>
                <a:latin typeface="Calibri Light" pitchFamily="34" charset="0"/>
                <a:ea typeface="Calibri Light" pitchFamily="34" charset="-122"/>
                <a:cs typeface="Calibri Light" pitchFamily="34" charset="-120"/>
              </a:rPr>
              <a:t>Test Report</a:t>
            </a:r>
            <a:endParaRPr lang="en-US" sz="2800" dirty="0"/>
          </a:p>
        </p:txBody>
      </p:sp>
      <p:sp>
        <p:nvSpPr>
          <p:cNvPr id="8" name="Text 6"/>
          <p:cNvSpPr/>
          <p:nvPr/>
        </p:nvSpPr>
        <p:spPr>
          <a:xfrm>
            <a:off x="457200" y="1554480"/>
            <a:ext cx="5943600" cy="365760"/>
          </a:xfrm>
          <a:prstGeom prst="rect">
            <a:avLst/>
          </a:prstGeom>
          <a:noFill/>
          <a:ln/>
        </p:spPr>
        <p:txBody>
          <a:bodyPr wrap="square" rtlCol="0" anchor="ctr"/>
          <a:lstStyle/>
          <a:p>
            <a:pPr indent="0" marL="0">
              <a:buNone/>
            </a:pPr>
            <a:r>
              <a:rPr lang="en-US" sz="1600" dirty="0">
                <a:solidFill>
                  <a:srgbClr val="000000"/>
                </a:solidFill>
                <a:latin typeface="Calibri" pitchFamily="34" charset="0"/>
                <a:ea typeface="Calibri" pitchFamily="34" charset="-122"/>
                <a:cs typeface="Calibri" pitchFamily="34" charset="-120"/>
              </a:rPr>
              <a:t>Version 1.3</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377440"/>
          <a:ext cx="5943600" cy="914400"/>
        </p:xfrm>
        <a:graphic>
          <a:graphicData uri="http://schemas.openxmlformats.org/drawingml/2006/table">
            <a:tbl>
              <a:tblPr/>
              <a:tblGrid>
                <a:gridCol w="2011680"/>
                <a:gridCol w="393192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Document Version</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Project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UMTH Flow meter Visualization API</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Document Author</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Tomas Tech Co., Ltd.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Project Owner</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Unimicron (Thailand) Co., Ltd.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Contents</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822960"/>
            <a:ext cx="5943600" cy="50292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Table of Contents</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822960"/>
                <a:gridCol w="4389120"/>
                <a:gridCol w="731520"/>
              </a:tblGrid>
              <a:tr h="21031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Section</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32323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Title</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323232"/>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Page</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323232"/>
                    </a:solidFill>
                  </a:tcPr>
                </a:tc>
              </a:tr>
              <a:tr h="210312">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Introduction</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1000" b="1" dirty="0">
                          <a:solidFill>
                            <a:srgbClr val="00000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Test Case</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1000" b="1" dirty="0">
                          <a:solidFill>
                            <a:srgbClr val="00000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MS-F-01</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Day comparison by selected days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MS-F-02</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Week comparison by selected week ranges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MS-F-03</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Month comparison by selected months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MS-F-04</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Year comparison by selected years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MS-F-05</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Max10Year comparison across ten years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MM-F-01</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Day data for multiple meters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MM-F-02</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Week data for multiple meters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MM-F-03</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Month data for multiple meters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MM-F-04</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Year data for multiple meters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MM-F-05</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Max10Year data for multiple meters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MD-F-01</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Day detail chart</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MD-F-02</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Week detail chart</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27</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MD-F-03</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Month detail chart</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29</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MD-F-04</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Year detail chart</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MD-F-05</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Max10Year detail chart</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33</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RF-01</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MeterSum Day keys are time/data-select strings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RF-02</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Multimeter Day keys are meter IDs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37</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RF-03</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MeterSum max values cover Month data</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39</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RF-04</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Multimeter max values cover Month data</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41</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RF-05</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MeterDetail chart series object structure</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43</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RF-06</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MeterDetail MeterLabelMap selected IDs</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45</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RF-07</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MeterDetail stroke length consistency</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RF-08a</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MeterSum Day categories — interval=5 min</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49</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RF-08b</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MeterSum Day categories — interval=15 min</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51</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    RF-08c</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04040"/>
                          </a:solidFill>
                          <a:latin typeface="Calibri" pitchFamily="34" charset="0"/>
                          <a:ea typeface="Calibri" pitchFamily="34" charset="-122"/>
                          <a:cs typeface="Calibri" pitchFamily="34" charset="-120"/>
                        </a:rPr>
                        <a:t>MeterSum Day categories — interval=60 min</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900" dirty="0">
                          <a:solidFill>
                            <a:srgbClr val="404040"/>
                          </a:solidFill>
                          <a:latin typeface="Calibri" pitchFamily="34" charset="0"/>
                          <a:ea typeface="Calibri" pitchFamily="34" charset="-122"/>
                          <a:cs typeface="Calibri" pitchFamily="34" charset="-120"/>
                        </a:rPr>
                        <a:t>53</a:t>
                      </a:r>
                      <a:endParaRPr lang="en-US" sz="9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Schedule</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1000" b="1" dirty="0">
                          <a:solidFill>
                            <a:srgbClr val="000000"/>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10312">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Risks and Contingencies</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1000" b="1" dirty="0">
                          <a:solidFill>
                            <a:srgbClr val="000000"/>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marL="25400" marR="25400" marT="25400" marB="254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1</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1. Introduction</a:t>
            </a:r>
            <a:endParaRPr lang="en-US" sz="2200" dirty="0"/>
          </a:p>
        </p:txBody>
      </p:sp>
      <p:sp>
        <p:nvSpPr>
          <p:cNvPr id="8" name="Text 6"/>
          <p:cNvSpPr/>
          <p:nvPr/>
        </p:nvSpPr>
        <p:spPr>
          <a:xfrm>
            <a:off x="457200" y="1371600"/>
            <a:ext cx="5943600" cy="6858000"/>
          </a:xfrm>
          <a:prstGeom prst="rect">
            <a:avLst/>
          </a:prstGeom>
          <a:noFill/>
          <a:ln/>
        </p:spPr>
        <p:txBody>
          <a:bodyPr wrap="square" rtlCol="0" anchor="t"/>
          <a:lstStyle/>
          <a:p>
            <a:pPr indent="0" marL="0">
              <a:buNone/>
            </a:pPr>
            <a:r>
              <a:rPr lang="en-US" sz="1300" b="1" dirty="0">
                <a:solidFill>
                  <a:srgbClr val="000000"/>
                </a:solidFill>
                <a:latin typeface="Calibri" pitchFamily="34" charset="0"/>
                <a:ea typeface="Calibri" pitchFamily="34" charset="-122"/>
                <a:cs typeface="Calibri" pitchFamily="34" charset="-120"/>
              </a:rPr>
              <a:t>Purpose</a:t>
            </a:r>
            <a:endParaRPr lang="en-US" sz="1300" dirty="0"/>
          </a:p>
          <a:p>
            <a:pPr indent="0" marL="0">
              <a:spcAft>
                <a:spcPts val="1000"/>
              </a:spcAft>
              <a:buNone/>
            </a:pPr>
            <a:r>
              <a:rPr lang="en-US" sz="1100" dirty="0">
                <a:solidFill>
                  <a:srgbClr val="000000"/>
                </a:solidFill>
                <a:latin typeface="Calibri" pitchFamily="34" charset="0"/>
                <a:ea typeface="Calibri" pitchFamily="34" charset="-122"/>
                <a:cs typeface="Calibri" pitchFamily="34" charset="-120"/>
              </a:rPr>
              <a:t>This document records the post-execution evidence of functional API testing for the UMTH Flow meter Visualization API. It captures the test cases executed against the deployed API endpoint, the steps performed for each case, and the actual outcome (Pass / Fail) verified through automated assertions.</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000000"/>
                </a:solidFill>
                <a:latin typeface="Calibri" pitchFamily="34" charset="0"/>
                <a:ea typeface="Calibri" pitchFamily="34" charset="-122"/>
                <a:cs typeface="Calibri" pitchFamily="34" charset="-120"/>
              </a:rPr>
              <a:t>System Under Test</a:t>
            </a:r>
            <a:endParaRPr lang="en-US" sz="1300" dirty="0"/>
          </a:p>
          <a:p>
            <a:pPr indent="0" marL="0">
              <a:spcAft>
                <a:spcPts val="1000"/>
              </a:spcAft>
              <a:buNone/>
            </a:pPr>
            <a:r>
              <a:rPr lang="en-US" sz="1100" dirty="0">
                <a:solidFill>
                  <a:srgbClr val="000000"/>
                </a:solidFill>
                <a:latin typeface="Calibri" pitchFamily="34" charset="0"/>
                <a:ea typeface="Calibri" pitchFamily="34" charset="-122"/>
                <a:cs typeface="Calibri" pitchFamily="34" charset="-120"/>
              </a:rPr>
              <a:t>Three REST endpoints exposed by the Flow meter Visualization API: POST /GetDataMeterSum, POST /GetDataMultimeter, and POST /GetDataMeterDetail. The system aggregates and serves flow-meter telemetry across Day, Week, Month, Year, and Max10Year time scales.</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000000"/>
                </a:solidFill>
                <a:latin typeface="Calibri" pitchFamily="34" charset="0"/>
                <a:ea typeface="Calibri" pitchFamily="34" charset="-122"/>
                <a:cs typeface="Calibri" pitchFamily="34" charset="-120"/>
              </a:rPr>
              <a:t>Test Approach</a:t>
            </a:r>
            <a:endParaRPr lang="en-US" sz="1300" dirty="0"/>
          </a:p>
          <a:p>
            <a:pPr indent="0" marL="0">
              <a:spcAft>
                <a:spcPts val="1000"/>
              </a:spcAft>
              <a:buNone/>
            </a:pPr>
            <a:r>
              <a:rPr lang="en-US" sz="1100" dirty="0">
                <a:solidFill>
                  <a:srgbClr val="000000"/>
                </a:solidFill>
                <a:latin typeface="Calibri" pitchFamily="34" charset="0"/>
                <a:ea typeface="Calibri" pitchFamily="34" charset="-122"/>
                <a:cs typeface="Calibri" pitchFamily="34" charset="-120"/>
              </a:rPr>
              <a:t>Black-box automated testing using Postman collections executed by Newman 6.2.1. Tests were grouped into four functional suites (MS-F, MM-F, MD-F, RF) and validated via JSON-schema and value-level assertions. The final run targeted the remote staging deployment at https://tom-demo-01.proen.app.ruk-com.cloud/unimicron-api.</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000000"/>
                </a:solidFill>
                <a:latin typeface="Calibri" pitchFamily="34" charset="0"/>
                <a:ea typeface="Calibri" pitchFamily="34" charset="-122"/>
                <a:cs typeface="Calibri" pitchFamily="34" charset="-120"/>
              </a:rPr>
              <a:t>Total Coverage</a:t>
            </a:r>
            <a:endParaRPr lang="en-US" sz="1300" dirty="0"/>
          </a:p>
          <a:p>
            <a:pPr indent="0" marL="0">
              <a:buNone/>
            </a:pPr>
            <a:r>
              <a:rPr lang="en-US" sz="1100" dirty="0">
                <a:solidFill>
                  <a:srgbClr val="000000"/>
                </a:solidFill>
                <a:latin typeface="Calibri" pitchFamily="34" charset="0"/>
                <a:ea typeface="Calibri" pitchFamily="34" charset="-122"/>
                <a:cs typeface="Calibri" pitchFamily="34" charset="-120"/>
              </a:rPr>
              <a:t>25 Test Reports across 4 test groups, executed over a 5 day schedule.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5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MS-F-01</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Day comparison by selected days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/GetDataMeterSum with payload { Type: "Day", Meter: ["1"], DataSelect: ["2025-06-01", "2025-06-02"]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https://tom-demo-01.proen.app.ruk-com.cloud/unimicron-api/GetDataMeterSum.</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9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9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6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MS-F-01</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249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9 / 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ArrCategories returns full 96-entry day grid (Interval=15).</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7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MS-F-02</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Week comparison by selected week ranges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/GetDataMeterSum with payload { Type: "Week", Meter: ["1"], DataSelect: ["2025-06-02||2025-06-08"]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https://tom-demo-01.proen.app.ruk-com.cloud/unimicron-api/GetDataMeterSum.</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Week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8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MS-F-02</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51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Dictionary keys preserve DataSelect strings (e.g. '2025-06-02||2025-06-08').</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9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MS-F-03</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Month comparison by selected months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/GetDataMeterSum with payload { Type: "Month", Meter: ["1"], DataSelect: ["04", "05", "06"]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https://tom-demo-01.proen.app.ruk-com.cloud/unimicron-api/GetDataMeterSum.</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Month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10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MS-F-03</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66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Dictionary keys returned as month codes ('04', '05', '06').</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11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MS-F-04</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Year comparison by selected years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/GetDataMeterSum with payload { Type: "Year", Meter: ["1"], DataSelect: ["2023", "2024", "2025"]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https://tom-demo-01.proen.app.ruk-com.cloud/unimicron-api/GetDataMeterSum.</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Year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12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MS-F-04</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59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Dictionary keys returned as year strings ('2023', '2024', '2025').</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13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MS-F-05</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Max10Year comparison across ten years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/GetDataMeterSum with payload { Type: "Max10Year", Meter: ["1"], DataSelect: ["2016".."2025"]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https://tom-demo-01.proen.app.ruk-com.cloud/unimicron-api/GetDataMeterSum.</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Max10Year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14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MS-F-05</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Returns 10 yearly buckets with year-string keys.</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15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MM-F-01</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Day data for multiple meters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/GetDataMultimeter with payload { Type: "Day", Meter: ["1", "2", "3"], DataSelect: ["2025-06-15"]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https://tom-demo-01.proen.app.ruk-com.cloud/unimicron-api/GetDataMultimeter.</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9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9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16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MM-F-01</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51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9 / 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Per-meter Day series with full 96-slot ArrCategories.</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17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MM-F-02</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Week data for multiple meters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/GetDataMultimeter with payload { Type: "Week", Meter: ["1", "2", "3"], DataSelect: ["2025-06-02||2025-06-08"]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https://tom-demo-01.proen.app.ruk-com.cloud/unimicron-api/GetDataMultimeter.</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Week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18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MM-F-02</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48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Per-meter weekly aggregates returned.</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19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MM-F-03</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Month data for multiple meters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/GetDataMultimeter with payload { Type: "Month", Meter: ["1", "2", "3"], DataSelect: ["06"]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https://tom-demo-01.proen.app.ruk-com.cloud/unimicron-api/GetDataMultimeter.</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Month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20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MM-F-03</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38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Per-meter monthly aggregates returned.</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21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MM-F-04</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Year data for multiple meters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/GetDataMultimeter with payload { Type: "Year", Meter: ["1", "2", "3"], DataSelect: ["2025"]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https://tom-demo-01.proen.app.ruk-com.cloud/unimicron-api/GetDataMultimeter.</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Year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22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MM-F-04</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43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Per-meter yearly aggregates returned.</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23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MM-F-05</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Max10Year data for multiple meters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/GetDataMultimeter with payload { Type: "Max10Year", Meter: ["1", "2", "3"]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https://tom-demo-01.proen.app.ruk-com.cloud/unimicron-api/GetDataMultimeter.</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Max10Year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24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MM-F-05</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44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Per-meter ten-year aggregates returned.</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25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MD-F-01</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Day detail chart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/GetDataMeterDetail with payload { Type: "Day", Meter: ["1"], DataSelect: ["2025-06-15"]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https://tom-demo-01.proen.app.ruk-com.cloud/unimicron-api/GetDataMeterDetail.</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9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9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26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MD-F-01</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9 / 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MeterLabelMap returns id+label objects; full 96-slot grid.</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27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MD-F-02</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Week detail chart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/GetDataMeterDetail with payload { Type: "Week", Meter: ["1"], DataSelect: ["2025-06-02||2025-06-08"]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https://tom-demo-01.proen.app.ruk-com.cloud/unimicron-api/GetDataMeterDetail.</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Week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28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MD-F-02</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Bar chart series with valid ApexCharts structure.</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29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MD-F-03</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Month detail chart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/GetDataMeterDetail with payload { Type: "Month", Meter: ["1"], DataSelect: ["06"]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https://tom-demo-01.proen.app.ruk-com.cloud/unimicron-api/GetDataMeterDetail.</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Month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30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MD-F-03</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24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Monthly detail series returned.</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31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MD-F-04</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Year detail chart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/GetDataMeterDetail with payload { Type: "Year", Meter: ["1"], DataSelect: ["2025"]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https://tom-demo-01.proen.app.ruk-com.cloud/unimicron-api/GetDataMeterDetail.</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Year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32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MD-F-04</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43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Yearly detail series returned.</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33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MD-F-05</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Max10Year detail chart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/GetDataMeterDetail with payload { Type: "Max10Year", Meter: ["1"], DataSelect: "2025"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https://tom-demo-01.proen.app.ruk-com.cloud/unimicron-api/GetDataMeterDetail.</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Max10Year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34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MD-F-05</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30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Single-year DataSelect workaround in place for DEF-004; endpoint returns HTTP 200.</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35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RF-01</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MeterSum Day keys are time/data-select strings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/GetDataMeterSum with payload { Type: "Day", Meter: ["1"], Interval: 15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https://tom-demo-01.proen.app.ruk-com.cloud/unimicron-api/GetDataMeterSum.</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9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9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36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RF-01</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48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9 / 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Verified non-numeric, time-string keys throughout response.</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37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RF-02</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Multimeter Day keys are meter IDs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/GetDataMultimeter with payload { Type: "Day", Meter: ["1", "2", "3"]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https://tom-demo-01.proen.app.ruk-com.cloud/unimicron-api/GetDataMultimeter.</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9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9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38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RF-02</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28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9 / 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Top-level keys equal selected meter IDs.</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39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RF-03</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MeterSum max values cover Month data</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/GetDataMeterSum with payload { Type: "Month", Meter: ["1"], DataSelect: ["04", "05", "06"]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https://tom-demo-01.proen.app.ruk-com.cloud/unimicron-api/GetDataMeterSum.</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Month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40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RF-03</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51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MaxData &gt;= each ArrDataActual point.</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41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RF-04</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Multimeter max values cover Month data</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/GetDataMultimeter with payload { Type: "Month", Meter: ["1", "2", "3"], DataSelect: ["06"]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https://tom-demo-01.proen.app.ruk-com.cloud/unimicron-api/GetDataMultimeter.</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Month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42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RF-04</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37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Per-meter MaxData covers ArrDataActual.</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43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RF-05</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MeterDetail chart series object structure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/GetDataMeterDetail with payload { Type: "Day", Meter: ["1"]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https://tom-demo-01.proen.app.ruk-com.cloud/unimicron-api/GetDataMeterDetail.</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9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9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44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RF-05</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43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9 / 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Each chart entry has name/type='bar'/data array.</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45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RF-06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MeterDetail MeterLabelMap selected IDs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/GetDataMeterDetail with payload { Type: "Day", Meter: ["1"]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https://tom-demo-01.proen.app.ruk-com.cloud/unimicron-api/GetDataMeterDetail.</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46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RF-06</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41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MeterLabelMap entries contain the requested meter IDs.</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47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RF-07</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MeterDetail stroke length consistency</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/GetDataMeterDetail with payload { Type: "Day", Meter: ["1"]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https://tom-demo-01.proen.app.ruk-com.cloud/unimicron-api/GetDataMeterDetail.</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8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8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48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RF-07</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36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8 / 8</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stroke array length equals chart series length.</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49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RF-08a</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MeterSum Day categories — interval=5 min</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/GetDataMeterSum with payload { Type: "Day", Interval: 5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https://tom-demo-01.proen.app.ruk-com.cloud/unimicron-api/GetDataMeterSum.</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9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9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50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RF-08a</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28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9 / 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ArrCategories.length == 288 (24h × 12).</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51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RF-08b</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MeterSum Day categories — interval=15 min</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/GetDataMeterSum with payload { Type: "Day", Interval: 15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https://tom-demo-01.proen.app.ruk-com.cloud/unimicron-api/GetDataMeterSum.</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9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9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52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RF-08b</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24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9 / 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ArrCategories.length == 96 (24h × 4).</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53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2. Test Case</a:t>
            </a:r>
            <a:endParaRPr lang="en-US" sz="2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463040"/>
                <a:gridCol w="4480560"/>
              </a:tblGrid>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ID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RF-08c</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Name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MeterSum Day categories — interval=60 min</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7373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Test Step</a:t>
                      </a:r>
                      <a:endParaRPr lang="en-US" sz="11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 Configure POST request to /GetDataMeterSum with payload { Type: "Day", Interval: 60 }.</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2. Send request to https://tom-demo-01.proen.app.ruk-com.cloud/unimicron-api/GetDataMeterSum.</a:t>
                      </a:r>
                      <a:endParaRPr lang="en-US" sz="1000" dirty="0">
                        <a:latin typeface="Calibri" charset="0"/>
                        <a:ea typeface="Calibri" charset="0"/>
                        <a:cs typeface="Calibri" charset="0"/>
                      </a:endParaRPr>
                    </a:p>
                    <a:p>
                      <a:pPr indent="0" marL="0">
                        <a:buNone/>
                      </a:pPr>
                      <a:r>
                        <a:rPr lang="en-US" sz="1000" dirty="0">
                          <a:solidFill>
                            <a:srgbClr val="000000"/>
                          </a:solidFill>
                          <a:latin typeface="Calibri" pitchFamily="34" charset="0"/>
                          <a:ea typeface="Calibri" pitchFamily="34" charset="-122"/>
                          <a:cs typeface="Calibri" pitchFamily="34" charset="-120"/>
                        </a:rPr>
                        <a:t>3. Verify HTTP 200, valid JSON response, and run 9 structural / value assertions.</a:t>
                      </a:r>
                      <a:endParaRPr lang="en-US" sz="10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HTTP 200 with a JSON object whose schema matches the Day response. All 9 assertions pass without HTTP 500 errors.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May 2026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2 — Test Case</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54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1800" b="1" dirty="0">
                <a:solidFill>
                  <a:srgbClr val="000000"/>
                </a:solidFill>
                <a:latin typeface="Calibri Light" pitchFamily="34" charset="0"/>
                <a:ea typeface="Calibri Light" pitchFamily="34" charset="-122"/>
                <a:cs typeface="Calibri Light" pitchFamily="34" charset="-120"/>
              </a:rPr>
              <a:t>2. Test Case (continued)  —  RF-08c</a:t>
            </a:r>
            <a:endParaRPr lang="en-US" sz="1800" dirty="0"/>
          </a:p>
        </p:txBody>
      </p:sp>
      <p:sp>
        <p:nvSpPr>
          <p:cNvPr id="8" name="Text 6"/>
          <p:cNvSpPr/>
          <p:nvPr/>
        </p:nvSpPr>
        <p:spPr>
          <a:xfrm>
            <a:off x="457200" y="137160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Actual Result</a:t>
            </a:r>
            <a:endParaRPr lang="en-US" sz="13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943600" cy="914400"/>
        </p:xfrm>
        <a:graphic>
          <a:graphicData uri="http://schemas.openxmlformats.org/drawingml/2006/table">
            <a:tbl>
              <a:tblPr/>
              <a:tblGrid>
                <a:gridCol w="1645920"/>
                <a:gridCol w="4297680"/>
              </a:tblGrid>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HTTP Response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 Time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32 ms</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Assertions Passed</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9 / 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6576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Evidence Source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junit-2026-05-05T07-05-42.xml  ·  summary-2026-05-05T07-05-42.json</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0" name="Text 7"/>
          <p:cNvSpPr/>
          <p:nvPr/>
        </p:nvSpPr>
        <p:spPr>
          <a:xfrm>
            <a:off x="457200" y="33832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Newman run summary — HTTP status, response timing, and assertion totals captured from JUnit XML output of the v1.3 remote run.</a:t>
            </a:r>
            <a:endParaRPr lang="en-US" sz="900" dirty="0"/>
          </a:p>
        </p:txBody>
      </p:sp>
      <p:sp>
        <p:nvSpPr>
          <p:cNvPr id="11" name="Text 8"/>
          <p:cNvSpPr/>
          <p:nvPr/>
        </p:nvSpPr>
        <p:spPr>
          <a:xfrm>
            <a:off x="457200" y="3931920"/>
            <a:ext cx="5943600" cy="365760"/>
          </a:xfrm>
          <a:prstGeom prst="rect">
            <a:avLst/>
          </a:prstGeom>
          <a:solidFill>
            <a:srgbClr val="F2F2F2"/>
          </a:solidFill>
          <a:ln w="6350">
            <a:solidFill>
              <a:srgbClr val="CCCCCC"/>
            </a:solidFill>
          </a:ln>
        </p:spPr>
        <p:txBody>
          <a:bodyPr wrap="square" lIns="76200" tIns="76200" rIns="76200" bIns="7620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Response Observation</a:t>
            </a:r>
            <a:endParaRPr lang="en-US" sz="1100" dirty="0"/>
          </a:p>
        </p:txBody>
      </p:sp>
      <p:sp>
        <p:nvSpPr>
          <p:cNvPr id="12" name="Text 9"/>
          <p:cNvSpPr/>
          <p:nvPr/>
        </p:nvSpPr>
        <p:spPr>
          <a:xfrm>
            <a:off x="457200" y="4389120"/>
            <a:ext cx="5943600" cy="731520"/>
          </a:xfrm>
          <a:prstGeom prst="rect">
            <a:avLst/>
          </a:prstGeom>
          <a:noFill/>
          <a:ln w="6350">
            <a:solidFill>
              <a:srgbClr val="DDDDDD"/>
            </a:solidFill>
          </a:ln>
        </p:spPr>
        <p:txBody>
          <a:bodyPr wrap="square" lIns="101600" tIns="101600" rIns="101600" bIns="101600" rtlCol="0" anchor="t"/>
          <a:lstStyle/>
          <a:p>
            <a:pPr indent="0" marL="0">
              <a:buNone/>
            </a:pPr>
            <a:r>
              <a:rPr lang="en-US" sz="1100" dirty="0">
                <a:solidFill>
                  <a:srgbClr val="000000"/>
                </a:solidFill>
                <a:latin typeface="Calibri" pitchFamily="34" charset="0"/>
                <a:ea typeface="Calibri" pitchFamily="34" charset="-122"/>
                <a:cs typeface="Calibri" pitchFamily="34" charset="-120"/>
              </a:rPr>
              <a:t>ArrCategories.length == 24 (one entry per hour).</a:t>
            </a:r>
            <a:endParaRPr lang="en-US" sz="1100" dirty="0"/>
          </a:p>
        </p:txBody>
      </p:sp>
      <p:sp>
        <p:nvSpPr>
          <p:cNvPr id="13" name="Text 10"/>
          <p:cNvSpPr/>
          <p:nvPr/>
        </p:nvSpPr>
        <p:spPr>
          <a:xfrm>
            <a:off x="457200" y="5212080"/>
            <a:ext cx="5943600" cy="365760"/>
          </a:xfrm>
          <a:prstGeom prst="rect">
            <a:avLst/>
          </a:prstGeom>
          <a:noFill/>
          <a:ln/>
        </p:spPr>
        <p:txBody>
          <a:bodyPr wrap="square" rtlCol="0" anchor="ctr"/>
          <a:lstStyle/>
          <a:p>
            <a:pPr indent="0" marL="0">
              <a:buNone/>
            </a:pPr>
            <a:r>
              <a:rPr lang="en-US" sz="900" i="1" dirty="0">
                <a:solidFill>
                  <a:srgbClr val="404040"/>
                </a:solidFill>
                <a:latin typeface="Calibri" pitchFamily="34" charset="0"/>
                <a:ea typeface="Calibri" pitchFamily="34" charset="-122"/>
                <a:cs typeface="Calibri" pitchFamily="34" charset="-120"/>
              </a:rPr>
              <a:t>Caption: Key structural observation verified by the assertion script for this test case.</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6</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55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3. Schedule</a:t>
            </a:r>
            <a:endParaRPr lang="en-US" sz="2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6126480" cy="914400"/>
        </p:xfrm>
        <a:graphic>
          <a:graphicData uri="http://schemas.openxmlformats.org/drawingml/2006/table">
            <a:tbl>
              <a:tblPr/>
              <a:tblGrid>
                <a:gridCol w="822960"/>
                <a:gridCol w="1188720"/>
                <a:gridCol w="2103120"/>
                <a:gridCol w="1188720"/>
                <a:gridCol w="822960"/>
              </a:tblGrid>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2323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Day</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2323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Activity</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2323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Cases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2323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23232"/>
                    </a:solidFill>
                  </a:tcPr>
                </a:tc>
              </a:tr>
              <a:tr h="64008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Phase 1</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Day 1</a:t>
                      </a:r>
                      <a:endParaRPr lang="en-US" sz="900" dirty="0">
                        <a:latin typeface="Calibri" charset="0"/>
                        <a:ea typeface="Calibri" charset="0"/>
                        <a:cs typeface="Calibri" charset="0"/>
                      </a:endParaRPr>
                    </a:p>
                    <a:p>
                      <a:pPr indent="0" marL="0">
                        <a:buNone/>
                      </a:pPr>
                      <a:r>
                        <a:rPr lang="en-US" sz="900" dirty="0">
                          <a:solidFill>
                            <a:srgbClr val="000000"/>
                          </a:solidFill>
                          <a:latin typeface="Calibri" pitchFamily="34" charset="0"/>
                          <a:ea typeface="Calibri" pitchFamily="34" charset="-122"/>
                          <a:cs typeface="Calibri" pitchFamily="34" charset="-120"/>
                        </a:rPr>
                        <a:t>(28 Apr 2026)</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Baseline functional run on local development server (v1.0)</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MS-F, MM-F, MD-F, RF (25)</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Tester</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4008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Phase 2</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Day 2</a:t>
                      </a:r>
                      <a:endParaRPr lang="en-US" sz="900" dirty="0">
                        <a:latin typeface="Calibri" charset="0"/>
                        <a:ea typeface="Calibri" charset="0"/>
                        <a:cs typeface="Calibri" charset="0"/>
                      </a:endParaRPr>
                    </a:p>
                    <a:p>
                      <a:pPr indent="0" marL="0">
                        <a:buNone/>
                      </a:pPr>
                      <a:r>
                        <a:rPr lang="en-US" sz="900" dirty="0">
                          <a:solidFill>
                            <a:srgbClr val="000000"/>
                          </a:solidFill>
                          <a:latin typeface="Calibri" pitchFamily="34" charset="0"/>
                          <a:ea typeface="Calibri" pitchFamily="34" charset="-122"/>
                          <a:cs typeface="Calibri" pitchFamily="34" charset="-120"/>
                        </a:rPr>
                        <a:t>(30 Apr 2026)</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Test script fix for MD-F-05 DataSelect; re-run after frontend team feedback (v1.1)</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Tester</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0292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Phase 3</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Day 3</a:t>
                      </a:r>
                      <a:endParaRPr lang="en-US" sz="900" dirty="0">
                        <a:latin typeface="Calibri" charset="0"/>
                        <a:ea typeface="Calibri" charset="0"/>
                        <a:cs typeface="Calibri" charset="0"/>
                      </a:endParaRPr>
                    </a:p>
                    <a:p>
                      <a:pPr indent="0" marL="0">
                        <a:buNone/>
                      </a:pPr>
                      <a:r>
                        <a:rPr lang="en-US" sz="900" dirty="0">
                          <a:solidFill>
                            <a:srgbClr val="000000"/>
                          </a:solidFill>
                          <a:latin typeface="Calibri" pitchFamily="34" charset="0"/>
                          <a:ea typeface="Calibri" pitchFamily="34" charset="-122"/>
                          <a:cs typeface="Calibri" pitchFamily="34" charset="-120"/>
                        </a:rPr>
                        <a:t>(5 May 2026)</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Re-run after local system update (v1.2)</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Tester</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4008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Phase 4</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Day 4</a:t>
                      </a:r>
                      <a:endParaRPr lang="en-US" sz="900" dirty="0">
                        <a:latin typeface="Calibri" charset="0"/>
                        <a:ea typeface="Calibri" charset="0"/>
                        <a:cs typeface="Calibri" charset="0"/>
                      </a:endParaRPr>
                    </a:p>
                    <a:p>
                      <a:pPr indent="0" marL="0">
                        <a:buNone/>
                      </a:pPr>
                      <a:r>
                        <a:rPr lang="en-US" sz="900" dirty="0">
                          <a:solidFill>
                            <a:srgbClr val="000000"/>
                          </a:solidFill>
                          <a:latin typeface="Calibri" pitchFamily="34" charset="0"/>
                          <a:ea typeface="Calibri" pitchFamily="34" charset="-122"/>
                          <a:cs typeface="Calibri" pitchFamily="34" charset="-120"/>
                        </a:rPr>
                        <a:t>(5 May 2026)</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Migrate environment to remote staging endpoint and full re-run (v1.3)</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Tester</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4008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Phase 5</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Day 5</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Report consolidation, defect closure verification, and deliverable handoff</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Tester / Developer</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6858000" cy="530352"/>
          </a:xfrm>
          <a:prstGeom prst="rect">
            <a:avLst/>
          </a:prstGeom>
          <a:solidFill>
            <a:srgbClr val="FFFFFF"/>
          </a:solidFill>
          <a:ln w="12700">
            <a:solidFill>
              <a:srgbClr val="323232"/>
            </a:solidFill>
            <a:prstDash val="solid"/>
          </a:ln>
        </p:spPr>
      </p:sp>
      <p:sp>
        <p:nvSpPr>
          <p:cNvPr id="3" name="Shape 1"/>
          <p:cNvSpPr/>
          <p:nvPr/>
        </p:nvSpPr>
        <p:spPr>
          <a:xfrm>
            <a:off x="0" y="0"/>
            <a:ext cx="54864" cy="530352"/>
          </a:xfrm>
          <a:prstGeom prst="rect">
            <a:avLst/>
          </a:prstGeom>
          <a:solidFill>
            <a:srgbClr val="000000"/>
          </a:solidFill>
          <a:ln/>
        </p:spPr>
      </p:sp>
      <p:sp>
        <p:nvSpPr>
          <p:cNvPr id="4" name="Text 2"/>
          <p:cNvSpPr/>
          <p:nvPr/>
        </p:nvSpPr>
        <p:spPr>
          <a:xfrm>
            <a:off x="164592" y="0"/>
            <a:ext cx="4572000" cy="530352"/>
          </a:xfrm>
          <a:prstGeom prst="rect">
            <a:avLst/>
          </a:prstGeom>
          <a:noFill/>
          <a:ln/>
        </p:spPr>
        <p:txBody>
          <a:bodyPr wrap="square" lIns="0" tIns="0" rIns="0" bIns="0"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Section 7</a:t>
            </a:r>
            <a:endParaRPr lang="en-US" sz="900" dirty="0"/>
          </a:p>
        </p:txBody>
      </p:sp>
      <p:sp>
        <p:nvSpPr>
          <p:cNvPr id="5" name="Text 3"/>
          <p:cNvSpPr/>
          <p:nvPr/>
        </p:nvSpPr>
        <p:spPr>
          <a:xfrm>
            <a:off x="4754880" y="0"/>
            <a:ext cx="2011680" cy="530352"/>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56 / 56</a:t>
            </a:r>
            <a:endParaRPr lang="en-US" sz="900" dirty="0"/>
          </a:p>
        </p:txBody>
      </p:sp>
      <p:sp>
        <p:nvSpPr>
          <p:cNvPr id="6" name="Text 4"/>
          <p:cNvSpPr/>
          <p:nvPr/>
        </p:nvSpPr>
        <p:spPr>
          <a:xfrm>
            <a:off x="274320" y="8732520"/>
            <a:ext cx="6309360" cy="274320"/>
          </a:xfrm>
          <a:prstGeom prst="rect">
            <a:avLst/>
          </a:prstGeom>
          <a:noFill/>
          <a:ln/>
        </p:spPr>
        <p:txBody>
          <a:bodyPr wrap="square" rtlCol="0" anchor="ctr"/>
          <a:lstStyle/>
          <a:p>
            <a:pPr algn="l" indent="0" marL="0">
              <a:buNone/>
            </a:pPr>
            <a:r>
              <a:rPr lang="en-US" sz="800" dirty="0">
                <a:solidFill>
                  <a:srgbClr val="404040"/>
                </a:solidFill>
                <a:latin typeface="Calibri" pitchFamily="34" charset="0"/>
                <a:ea typeface="Calibri" pitchFamily="34" charset="-122"/>
                <a:cs typeface="Calibri" pitchFamily="34" charset="-120"/>
              </a:rPr>
              <a:t>UMTH Flow meter Visualization API   ·  Test Report v1.3  ·  5 May 2026  ·  Confidential</a:t>
            </a:r>
            <a:endParaRPr lang="en-US" sz="800" dirty="0"/>
          </a:p>
        </p:txBody>
      </p:sp>
      <p:sp>
        <p:nvSpPr>
          <p:cNvPr id="7" name="Text 5"/>
          <p:cNvSpPr/>
          <p:nvPr/>
        </p:nvSpPr>
        <p:spPr>
          <a:xfrm>
            <a:off x="457200" y="731520"/>
            <a:ext cx="5943600" cy="457200"/>
          </a:xfrm>
          <a:prstGeom prst="rect">
            <a:avLst/>
          </a:prstGeom>
          <a:noFill/>
          <a:ln/>
        </p:spPr>
        <p:txBody>
          <a:bodyPr wrap="square" rtlCol="0" anchor="ctr"/>
          <a:lstStyle/>
          <a:p>
            <a:pPr indent="0" marL="0">
              <a:buNone/>
            </a:pPr>
            <a:r>
              <a:rPr lang="en-US" sz="2200" b="1" dirty="0">
                <a:solidFill>
                  <a:srgbClr val="000000"/>
                </a:solidFill>
                <a:latin typeface="Calibri Light" pitchFamily="34" charset="0"/>
                <a:ea typeface="Calibri Light" pitchFamily="34" charset="-122"/>
                <a:cs typeface="Calibri Light" pitchFamily="34" charset="-120"/>
              </a:rPr>
              <a:t>4. Risks and Contingencies</a:t>
            </a:r>
            <a:endParaRPr lang="en-US" sz="2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6126480" cy="914400"/>
        </p:xfrm>
        <a:graphic>
          <a:graphicData uri="http://schemas.openxmlformats.org/drawingml/2006/table">
            <a:tbl>
              <a:tblPr/>
              <a:tblGrid>
                <a:gridCol w="2743200"/>
                <a:gridCol w="914400"/>
                <a:gridCol w="822960"/>
                <a:gridCol w="1645920"/>
              </a:tblGrid>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2323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Likelihood</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2323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2323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Mitigation</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23232"/>
                    </a:solidFill>
                  </a:tcPr>
                </a:tc>
              </a:tr>
              <a:tr h="9144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DEF-004 server-side fix unverified — Int32.Parse(DataSelect) at DataMeterDetailController.cs:288 may still crash if a piped DataSelect is sent.</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Re-test MD-F-05 against the remote endpoint with the original "year|year_start" payload to confirm the server-side branch on Type before parsing.</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2296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Local development server out of sync with remote — DEF-001/002/003 still observable on localhost:5000.</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Sync the local container/database from the remote staging build to reproduce post-fix behavior locally before any future development.</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9144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Remaining test scope (Validation, Cross-Endpoint, Load, DB Integration, System Failure) not yet executed — coverage gap for negative paths and resilience.</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Schedule Phase 6 to run the validation and cross-endpoint suites against the remote endpoint and the manual DB / failure cases with the operations team.</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2296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Single environment validated — current evidence covers only the remote staging deployment; production parity is unverified.</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Re-run the functional suite against the production environment as part of go-live acceptance.</a:t>
                      </a:r>
                      <a:endParaRPr lang="en-US" sz="900" dirty="0">
                        <a:latin typeface="Calibri" charset="0"/>
                        <a:ea typeface="Calibri" charset="0"/>
                        <a:cs typeface="Calibri" charset="0"/>
                      </a:endParaRPr>
                    </a:p>
                  </a:txBody>
                  <a:tcPr marL="91440" marR="91440" marT="45720" marB="4572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Tomas Tech Co.,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UMTH Flow meter Visualization API Test Report</dc:title>
  <dc:subject>PptxGenJS Presentation</dc:subject>
  <dc:creator>Tomas Tech Co., Ltd.</dc:creator>
  <cp:lastModifiedBy>Tomas Tech Co., Ltd.</cp:lastModifiedBy>
  <cp:revision>1</cp:revision>
  <dcterms:created xsi:type="dcterms:W3CDTF">2026-05-09T05:55:34Z</dcterms:created>
  <dcterms:modified xsi:type="dcterms:W3CDTF">2026-05-09T05:55:34Z</dcterms:modified>
</cp:coreProperties>
</file>